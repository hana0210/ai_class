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5" r:id="rId6"/>
    <p:sldId id="262" r:id="rId7"/>
    <p:sldId id="261" r:id="rId8"/>
    <p:sldId id="267" r:id="rId9"/>
    <p:sldId id="263" r:id="rId10"/>
    <p:sldId id="270" r:id="rId11"/>
    <p:sldId id="26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44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72562-5E54-4252-BDBA-00A202F35C72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F9534-A0BC-41FC-AD15-5C67AACC6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F9534-A0BC-41FC-AD15-5C67AACC635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19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5A415-DC76-775C-6188-ECC98F037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5A50D0-B83B-283A-C6DA-BD5BE7C13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94807A-C580-AF94-CD9A-DBA761F2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21311-B8FF-4084-9054-D9605258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315C9-A556-659D-2740-85E97855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88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EC9BB-D7AF-A741-38A1-D9A6E660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E2A4-B16E-C75A-06B5-6FA5FF22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47866-5B99-ABE7-C207-86087190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8C075-ADAF-26EA-D701-792598E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5B88D7-0D39-6C14-805E-78E293F2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1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C4F6B-7E18-4225-6A4B-57A8BF5C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F69779-20A4-9B07-2DCC-9A23E2913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BC1950-E6EE-4CA0-46BE-3C228579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968C7-0591-E6E4-DC39-26E0E9AF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04B28-CB10-C642-317C-F2D3FA71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9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77C91-B2AD-799D-D17B-FB10F620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BFA1A-EE29-2F52-4B12-1FB70755E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1DA54-3471-53FB-1181-A480C8608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A4553F-09AF-1408-854E-30CEE3879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7DBC4D-E0D0-B083-1D67-35E69613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14A6D4-21F9-983D-990C-7BF91281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153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4352A-ECAF-A427-583E-5AD74542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CFAB5-ED84-6984-E84E-CA116F214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5FBE56-139B-0850-70B2-CD1B5F538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124653-8F0E-EF48-D75E-54A74B16F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76C152-FE2F-B994-258C-9F84C2971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ED64F1-BEB2-F49A-390B-2E6487EE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0F7B6B-7879-5DF2-1095-AA57C823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A0F950-8123-E3D3-AA1E-2559C7A1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79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2C3F0-488B-69AE-9234-220DD6FB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B0182B-D14C-7772-EFAD-8E2629AA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1AB5A3-56B3-202C-3C73-8995B52D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DAB041-DC04-9F76-509C-30BFF678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02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3C4A3E-0134-B5C3-8C9E-4E26CF98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9D947D-4F19-5019-0E28-2D0A74C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4E212B-7DF8-A876-B313-FCD93CF1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4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F2C9C-340E-BB56-467F-1A529A8A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652D6B-C7A1-0E65-11DD-579B75CDB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AE5069-B346-45F6-14C9-8B3FBF0AD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7B2C73-00D5-9DB1-85D8-BA457399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B65195-ADD7-2390-5C1B-C48A9E9B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D0DC3B-661E-D35D-58FC-5A3B861F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09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BD95B-2DF6-E641-AB89-AC6A8067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2638A8-B70E-1879-811A-6F6163DB1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0C1B63-2700-9183-861D-B6A9A15B9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510561-9766-B371-E373-EA9088D6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D58796-B2A1-244A-2F04-5C86A7F2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3171C5-4B47-7FA9-0490-EEC87801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32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817B8-AB7B-6CBB-8361-DE03E54D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4D0343-4D59-3A17-2ACB-F8CA3709A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2F417-EA68-E432-86CF-DC6F64B3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BA5A-4AF8-14B1-F131-ECBC5489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5EC159-8A93-4F92-C6BC-902E438E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8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617907-FB67-1BB4-13A0-B36436B60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A69D64-5487-042B-B598-AEB8B433F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CAE80-3B21-7715-69F4-BA34AC86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63F75B-6904-F134-8F8C-E207CA50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A2A21-B354-7C1B-9B1B-E54C72A4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69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961293-8D8E-4D31-DBB3-4DE772E9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FE48A-01B4-8EBE-2F12-A69AB457F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093D0-B9BC-F35C-BF4A-73E691E46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6B774-8838-4FC1-AC34-E959B10C5A1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09D2BA-F8EE-D65D-2950-42D0E75EF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30904-899F-E2CB-994D-FE8C533AA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4A0D0-B4D0-40C7-81D9-ED330233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13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8FD92A-52A2-4AD2-8D52-FE92FB8707C2}"/>
              </a:ext>
            </a:extLst>
          </p:cNvPr>
          <p:cNvSpPr txBox="1"/>
          <p:nvPr/>
        </p:nvSpPr>
        <p:spPr>
          <a:xfrm>
            <a:off x="1839065" y="2659559"/>
            <a:ext cx="85138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/>
              <a:t>소비 </a:t>
            </a:r>
            <a:r>
              <a:rPr lang="ko-KR" altLang="en-US" sz="4400"/>
              <a:t>패턴 분석을 통한 구매 추천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64654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A48E2-E8EA-E6E1-A4D5-CFA6D4B782A1}"/>
              </a:ext>
            </a:extLst>
          </p:cNvPr>
          <p:cNvSpPr txBox="1"/>
          <p:nvPr/>
        </p:nvSpPr>
        <p:spPr>
          <a:xfrm>
            <a:off x="650117" y="641907"/>
            <a:ext cx="22765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Contents</a:t>
            </a:r>
          </a:p>
          <a:p>
            <a:endParaRPr lang="en-US" altLang="ko-KR" dirty="0"/>
          </a:p>
          <a:p>
            <a:r>
              <a:rPr lang="ko-KR" altLang="en-US" dirty="0"/>
              <a:t>구매 패턴 분석 현황</a:t>
            </a:r>
          </a:p>
          <a:p>
            <a:endParaRPr lang="en-US" altLang="ko-KR" dirty="0"/>
          </a:p>
          <a:p>
            <a:r>
              <a:rPr lang="ko-KR" altLang="en-US" dirty="0"/>
              <a:t>타겟</a:t>
            </a:r>
          </a:p>
        </p:txBody>
      </p:sp>
    </p:spTree>
    <p:extLst>
      <p:ext uri="{BB962C8B-B14F-4D97-AF65-F5344CB8AC3E}">
        <p14:creationId xmlns:p14="http://schemas.microsoft.com/office/powerpoint/2010/main" val="267692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FBD0-13AA-92F4-9052-590E9DD9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44DFD814-18E1-07E3-F93E-58E8F3613B72}"/>
              </a:ext>
            </a:extLst>
          </p:cNvPr>
          <p:cNvGrpSpPr/>
          <p:nvPr/>
        </p:nvGrpSpPr>
        <p:grpSpPr>
          <a:xfrm>
            <a:off x="177438" y="205936"/>
            <a:ext cx="8371380" cy="4567031"/>
            <a:chOff x="901002" y="707386"/>
            <a:chExt cx="10389996" cy="566829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06FB377-70AF-7259-7E83-4E483825E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780"/>
            <a:stretch>
              <a:fillRect/>
            </a:stretch>
          </p:blipFill>
          <p:spPr>
            <a:xfrm>
              <a:off x="901002" y="707386"/>
              <a:ext cx="10389996" cy="566829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3D6354F-A4C4-7227-0DAF-34ACF7FFA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45" t="5815" r="1676" b="67063"/>
            <a:stretch>
              <a:fillRect/>
            </a:stretch>
          </p:blipFill>
          <p:spPr>
            <a:xfrm>
              <a:off x="9653116" y="1157560"/>
              <a:ext cx="1326384" cy="153739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55DE84B-70A0-C0CF-95D2-E0E781C0479A}"/>
              </a:ext>
            </a:extLst>
          </p:cNvPr>
          <p:cNvSpPr txBox="1"/>
          <p:nvPr/>
        </p:nvSpPr>
        <p:spPr>
          <a:xfrm>
            <a:off x="8778992" y="1750787"/>
            <a:ext cx="30446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1. 40</a:t>
            </a:r>
            <a:r>
              <a:rPr lang="ko-KR" altLang="en-US" sz="1000" b="1" dirty="0"/>
              <a:t>대의 패턴</a:t>
            </a:r>
            <a:r>
              <a:rPr lang="en-US" altLang="ko-KR" sz="1000" b="1" dirty="0"/>
              <a:t>: "</a:t>
            </a:r>
            <a:r>
              <a:rPr lang="ko-KR" altLang="en-US" sz="1000" b="1" dirty="0"/>
              <a:t>주말 몰입형</a:t>
            </a:r>
            <a:r>
              <a:rPr lang="en-US" altLang="ko-KR" sz="1000" b="1" dirty="0"/>
              <a:t>"</a:t>
            </a:r>
          </a:p>
          <a:p>
            <a:r>
              <a:rPr lang="ko-KR" altLang="en-US" sz="1000" b="1" dirty="0"/>
              <a:t>특징</a:t>
            </a:r>
            <a:r>
              <a:rPr lang="en-US" altLang="ko-KR" sz="1000" b="1" dirty="0"/>
              <a:t>:</a:t>
            </a:r>
            <a:r>
              <a:rPr lang="ko-KR" altLang="en-US" sz="1000" dirty="0"/>
              <a:t> 월요일부터 금요일까지는 구매 건수가 완만하게 유지되다가</a:t>
            </a:r>
            <a:r>
              <a:rPr lang="en-US" altLang="ko-KR" sz="1000" dirty="0"/>
              <a:t>, </a:t>
            </a:r>
            <a:r>
              <a:rPr lang="ko-KR" altLang="en-US" sz="1000" b="1" dirty="0"/>
              <a:t>토요일과 일요일</a:t>
            </a:r>
            <a:r>
              <a:rPr lang="ko-KR" altLang="en-US" sz="1000" dirty="0"/>
              <a:t>에 그래프가 급격하게 솟구침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b="1" dirty="0"/>
          </a:p>
          <a:p>
            <a:r>
              <a:rPr lang="en-US" altLang="ko-KR" sz="1000" b="1" dirty="0"/>
              <a:t>2. 60</a:t>
            </a:r>
            <a:r>
              <a:rPr lang="ko-KR" altLang="en-US" sz="1000" b="1" dirty="0"/>
              <a:t>대의 패턴</a:t>
            </a:r>
            <a:r>
              <a:rPr lang="en-US" altLang="ko-KR" sz="1000" b="1" dirty="0"/>
              <a:t>: "</a:t>
            </a:r>
            <a:r>
              <a:rPr lang="ko-KR" altLang="en-US" sz="1000" b="1" dirty="0"/>
              <a:t>평일 유지형</a:t>
            </a:r>
            <a:r>
              <a:rPr lang="en-US" altLang="ko-KR" sz="1000" b="1" dirty="0"/>
              <a:t>"</a:t>
            </a:r>
          </a:p>
          <a:p>
            <a:r>
              <a:rPr lang="ko-KR" altLang="en-US" sz="1000" b="1" dirty="0"/>
              <a:t>특징</a:t>
            </a:r>
            <a:r>
              <a:rPr lang="en-US" altLang="ko-KR" sz="1000" b="1" dirty="0"/>
              <a:t>:</a:t>
            </a:r>
            <a:r>
              <a:rPr lang="ko-KR" altLang="en-US" sz="1000" dirty="0"/>
              <a:t> 주말에 치솟는 </a:t>
            </a:r>
            <a:r>
              <a:rPr lang="en-US" altLang="ko-KR" sz="1000" dirty="0"/>
              <a:t>40</a:t>
            </a:r>
            <a:r>
              <a:rPr lang="ko-KR" altLang="en-US" sz="1000" dirty="0"/>
              <a:t>대와 달리</a:t>
            </a:r>
            <a:r>
              <a:rPr lang="en-US" altLang="ko-KR" sz="1000" dirty="0"/>
              <a:t>, 60</a:t>
            </a:r>
            <a:r>
              <a:rPr lang="ko-KR" altLang="en-US" sz="1000" dirty="0"/>
              <a:t>대는 요일에 따른 변화폭이 상대적으로 적습니다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99448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88FA-2283-332F-CEA4-7C92B909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4950D98-7A2C-0DD5-17D6-5D8A672DA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0434"/>
            <a:ext cx="7679836" cy="6767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B0B1E4-9938-F08E-A5D0-C559981B6DC9}"/>
              </a:ext>
            </a:extLst>
          </p:cNvPr>
          <p:cNvSpPr txBox="1"/>
          <p:nvPr/>
        </p:nvSpPr>
        <p:spPr>
          <a:xfrm>
            <a:off x="5675378" y="2287941"/>
            <a:ext cx="62925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수도권 및 광역시 중심의 소비 집중 현상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  <a:p>
            <a:r>
              <a:rPr lang="ko-KR" altLang="en-US" b="1" dirty="0"/>
              <a:t>수도권 압도</a:t>
            </a:r>
            <a:r>
              <a:rPr lang="en-US" altLang="ko-KR" b="1" dirty="0"/>
              <a:t>:</a:t>
            </a:r>
            <a:r>
              <a:rPr lang="ko-KR" altLang="en-US" dirty="0"/>
              <a:t> 서울</a:t>
            </a:r>
            <a:r>
              <a:rPr lang="en-US" altLang="ko-KR" dirty="0"/>
              <a:t>(2,345)</a:t>
            </a:r>
            <a:r>
              <a:rPr lang="ko-KR" altLang="en-US" dirty="0"/>
              <a:t>과 경기</a:t>
            </a:r>
            <a:r>
              <a:rPr lang="en-US" altLang="ko-KR" dirty="0"/>
              <a:t>(2,101) </a:t>
            </a:r>
            <a:r>
              <a:rPr lang="ko-KR" altLang="en-US" dirty="0"/>
              <a:t>지역의 구매력이 전국에서 가장 높게 나타남</a:t>
            </a:r>
            <a:r>
              <a:rPr lang="en-US" altLang="ko-KR" dirty="0"/>
              <a:t>. </a:t>
            </a:r>
            <a:r>
              <a:rPr lang="ko-KR" altLang="en-US" dirty="0"/>
              <a:t>이는 인구 밀집도와 높은 소득 수준이 구매 건수로 직결됨을 시사함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광역시 거점 소비</a:t>
            </a:r>
            <a:r>
              <a:rPr lang="en-US" altLang="ko-KR" b="1" dirty="0"/>
              <a:t>:</a:t>
            </a:r>
            <a:r>
              <a:rPr lang="ko-KR" altLang="en-US" dirty="0"/>
              <a:t> 부산</a:t>
            </a:r>
            <a:r>
              <a:rPr lang="en-US" altLang="ko-KR" dirty="0"/>
              <a:t>(1,890), </a:t>
            </a:r>
            <a:r>
              <a:rPr lang="ko-KR" altLang="en-US" dirty="0"/>
              <a:t>세종</a:t>
            </a:r>
            <a:r>
              <a:rPr lang="en-US" altLang="ko-KR" dirty="0"/>
              <a:t>(1,823), </a:t>
            </a:r>
            <a:r>
              <a:rPr lang="ko-KR" altLang="en-US" dirty="0"/>
              <a:t>대전</a:t>
            </a:r>
            <a:r>
              <a:rPr lang="en-US" altLang="ko-KR" dirty="0"/>
              <a:t>(1,799), </a:t>
            </a:r>
            <a:r>
              <a:rPr lang="ko-KR" altLang="en-US" dirty="0"/>
              <a:t>광주</a:t>
            </a:r>
            <a:r>
              <a:rPr lang="en-US" altLang="ko-KR" dirty="0"/>
              <a:t>(1,765) </a:t>
            </a:r>
            <a:r>
              <a:rPr lang="ko-KR" altLang="en-US" dirty="0"/>
              <a:t>등 주요 거점 광역시들이 인근 도 지역보다 높은 구매력을 보유함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130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CC00EF-9F65-E75C-D9FF-2EEFE7937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268" y="84052"/>
            <a:ext cx="9769464" cy="677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1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6C13-C479-DDF5-40DB-93FE8306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DC57B-18A3-081E-F79B-FADD26A5C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7" y="132430"/>
            <a:ext cx="11622122" cy="4925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2E0E0-2B64-ED90-8DE7-F04CB48FF7D1}"/>
              </a:ext>
            </a:extLst>
          </p:cNvPr>
          <p:cNvSpPr txBox="1"/>
          <p:nvPr/>
        </p:nvSpPr>
        <p:spPr>
          <a:xfrm>
            <a:off x="200967" y="5205046"/>
            <a:ext cx="12115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시간대는 </a:t>
            </a:r>
            <a:r>
              <a:rPr lang="en-US" altLang="ko-KR" dirty="0"/>
              <a:t>30 ~ 50 </a:t>
            </a:r>
            <a:r>
              <a:rPr lang="ko-KR" altLang="en-US" dirty="0"/>
              <a:t>대가 도드라지게 잘 보이고</a:t>
            </a:r>
            <a:r>
              <a:rPr lang="en-US" altLang="ko-KR" dirty="0"/>
              <a:t>, </a:t>
            </a:r>
            <a:r>
              <a:rPr lang="ko-KR" altLang="en-US" dirty="0"/>
              <a:t>보통 </a:t>
            </a:r>
            <a:r>
              <a:rPr lang="en-US" altLang="ko-KR" dirty="0"/>
              <a:t>15</a:t>
            </a:r>
            <a:r>
              <a:rPr lang="ko-KR" altLang="en-US" dirty="0"/>
              <a:t>시 </a:t>
            </a:r>
            <a:r>
              <a:rPr lang="ko-KR" altLang="en-US" dirty="0" err="1"/>
              <a:t>넘어서부터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시 전까지 소비 활동이 활발함을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51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8B03-4D36-39B8-FB85-D9DAB193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8E237F-0411-74A3-FF84-F6835A08E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" b="-1"/>
          <a:stretch>
            <a:fillRect/>
          </a:stretch>
        </p:blipFill>
        <p:spPr>
          <a:xfrm>
            <a:off x="130873" y="1"/>
            <a:ext cx="8772124" cy="5417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55F5D6-E2EC-C6AC-631E-2B73484DC980}"/>
              </a:ext>
            </a:extLst>
          </p:cNvPr>
          <p:cNvSpPr txBox="1"/>
          <p:nvPr/>
        </p:nvSpPr>
        <p:spPr>
          <a:xfrm>
            <a:off x="9178290" y="1154430"/>
            <a:ext cx="53655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전국 연령별 </a:t>
            </a:r>
            <a:r>
              <a:rPr lang="en-US" altLang="ko-KR" dirty="0"/>
              <a:t>1</a:t>
            </a:r>
            <a:r>
              <a:rPr lang="ko-KR" altLang="en-US" dirty="0"/>
              <a:t>인당 평균 구매 금액 시각화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빈도수가 제일 낮은 </a:t>
            </a:r>
            <a:r>
              <a:rPr lang="en-US" altLang="ko-KR" dirty="0"/>
              <a:t>60</a:t>
            </a:r>
            <a:r>
              <a:rPr lang="ko-KR" altLang="en-US" dirty="0"/>
              <a:t>세가 구매금액은 제일 높음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반대로 </a:t>
            </a:r>
            <a:r>
              <a:rPr lang="en-US" altLang="ko-KR" dirty="0"/>
              <a:t>40</a:t>
            </a:r>
            <a:r>
              <a:rPr lang="ko-KR" altLang="en-US" dirty="0"/>
              <a:t>대는 빈도수는 높지만 구매금액은 중간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47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32930C-E75E-AD1F-01E7-ADC599199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4430" y="0"/>
            <a:ext cx="6582775" cy="62358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123F878-DB97-F125-C60B-3A685AE33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873" y="1"/>
            <a:ext cx="6472521" cy="62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69B4-3860-1FF0-3F63-AB260757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B3E8D851-F3E9-436B-D256-59138D10C4A1}"/>
              </a:ext>
            </a:extLst>
          </p:cNvPr>
          <p:cNvGrpSpPr/>
          <p:nvPr/>
        </p:nvGrpSpPr>
        <p:grpSpPr>
          <a:xfrm>
            <a:off x="182164" y="137194"/>
            <a:ext cx="5615736" cy="4294129"/>
            <a:chOff x="182163" y="137194"/>
            <a:chExt cx="6220693" cy="491558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70F07CE-1999-BF37-4884-6444B209C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163" y="137194"/>
              <a:ext cx="6220693" cy="491558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2B9754-7D67-96CB-F8E1-390DABB62DEB}"/>
                </a:ext>
              </a:extLst>
            </p:cNvPr>
            <p:cNvSpPr txBox="1"/>
            <p:nvPr/>
          </p:nvSpPr>
          <p:spPr>
            <a:xfrm>
              <a:off x="5427227" y="137194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40</a:t>
              </a:r>
              <a:r>
                <a:rPr lang="ko-KR" altLang="en-US" dirty="0"/>
                <a:t>대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D12B580-B116-1243-13B5-503D6E7EDBCC}"/>
              </a:ext>
            </a:extLst>
          </p:cNvPr>
          <p:cNvGrpSpPr/>
          <p:nvPr/>
        </p:nvGrpSpPr>
        <p:grpSpPr>
          <a:xfrm>
            <a:off x="6394102" y="459833"/>
            <a:ext cx="5498874" cy="4398610"/>
            <a:chOff x="5554312" y="1023123"/>
            <a:chExt cx="6268325" cy="493829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B69874C-D9B6-6611-54B9-CC5297CAE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4312" y="1093462"/>
              <a:ext cx="6268325" cy="486795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525799-9D46-4FCE-25A5-C548328A4702}"/>
                </a:ext>
              </a:extLst>
            </p:cNvPr>
            <p:cNvSpPr txBox="1"/>
            <p:nvPr/>
          </p:nvSpPr>
          <p:spPr>
            <a:xfrm>
              <a:off x="10985640" y="1023123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60</a:t>
              </a:r>
              <a:r>
                <a:rPr lang="ko-KR" altLang="en-US" dirty="0"/>
                <a:t>대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03A0CA4-C9A1-B094-636B-0941A2180455}"/>
              </a:ext>
            </a:extLst>
          </p:cNvPr>
          <p:cNvSpPr txBox="1"/>
          <p:nvPr/>
        </p:nvSpPr>
        <p:spPr>
          <a:xfrm>
            <a:off x="703385" y="5747657"/>
            <a:ext cx="780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상품을 추천하기 전에 </a:t>
            </a:r>
            <a:r>
              <a:rPr lang="en-US" altLang="ko-KR" dirty="0"/>
              <a:t>40</a:t>
            </a:r>
            <a:r>
              <a:rPr lang="ko-KR" altLang="en-US" dirty="0"/>
              <a:t>대와 </a:t>
            </a:r>
            <a:r>
              <a:rPr lang="en-US" altLang="ko-KR" dirty="0"/>
              <a:t>60</a:t>
            </a:r>
            <a:r>
              <a:rPr lang="ko-KR" altLang="en-US" dirty="0"/>
              <a:t>대의 소비 시간대를 세부적으로 분석했다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9710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F46AA0-A232-1862-35EE-85C1ACD7C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1" y="239806"/>
            <a:ext cx="9840698" cy="5201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44FE15-618C-D9BF-7D70-A70DF1BEE853}"/>
              </a:ext>
            </a:extLst>
          </p:cNvPr>
          <p:cNvSpPr txBox="1"/>
          <p:nvPr/>
        </p:nvSpPr>
        <p:spPr>
          <a:xfrm>
            <a:off x="353081" y="5767754"/>
            <a:ext cx="1148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앞선 데이터들을 토대로 인기있는 요일과 시간대를 가져와 선호 상품을 분석해 추천 상품을 추려볼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792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0987AE-DC54-6BE7-11F5-5DD5FC9AA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8" y="914506"/>
            <a:ext cx="9793067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1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212</Words>
  <Application>Microsoft Office PowerPoint</Application>
  <PresentationFormat>와이드스크린</PresentationFormat>
  <Paragraphs>29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2026-04-09T09:39:35Z</dcterms:created>
  <dcterms:modified xsi:type="dcterms:W3CDTF">2026-04-10T08:35:38Z</dcterms:modified>
</cp:coreProperties>
</file>